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1 of 20 · 1 min · Lion Ramchandra Patil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2 of 20 · 1 min · Leo Darsh Sinha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3 of 20 · 1 min · Leo Dhruv Chandra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4 of 20 · 1 min · Leo Khushboo Patel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5 of 20 · 2 min · Leo Khushboo Patel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6 of 20 · 5 min · Leo Lion Rakhshan Khan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7 of 20 · 2 min · Leo Drishti Sinha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8 of 20 · 30 min · Leo Lion Mukund Khaw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9 of 20 · 3 min · Leo Abhishek Ajit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10 of 20 · 15 min · Leo Drishti Sinha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11 of 20 · 2 min · Lion Ramchandra Patil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12 of 20 · 2 min · Lion Sabitri Nag / Lion Dhirendra Sinha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13 of 20 · 2 min · Leo Lion Rakhshan Khan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14 of 20 · 2 min · Leo Lion Sudhanshu Maheshwari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15 of 20 · 2 min · MJF Lion Vijay Ganatra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16 of 20 · 2 min · MJF Lion Namita Mishra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17 of 20 · 2 min · Leo Lion Mukund Khaw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18 of 20 · 2 min · Leo Drishti Sinha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19 of 20 · 2 min · Leo Khushboo Patel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20 of 20 · 1 min · Leo Drishti Sinha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7207" y="1417320"/>
            <a:ext cx="1097280" cy="10391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2514600"/>
            <a:ext cx="94484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000">
                <a:solidFill>
                  <a:srgbClr val="1E3324"/>
                </a:solidFill>
                <a:latin typeface="Cormorant Garamond"/>
              </a:rPr>
              <a:t>The Mad Hour</a:t>
            </a:r>
          </a:p>
          <a:p>
            <a:pPr algn="ctr">
              <a:spcBef>
                <a:spcPts val="600"/>
              </a:spcBef>
            </a:pPr>
            <a:r>
              <a:rPr sz="2000" i="1">
                <a:solidFill>
                  <a:srgbClr val="7F9673"/>
                </a:solidFill>
                <a:latin typeface="Cormorant Garamond"/>
              </a:rPr>
              <a:t>1st Installation Ceremony</a:t>
            </a:r>
          </a:p>
        </p:txBody>
      </p:sp>
      <p:sp>
        <p:nvSpPr>
          <p:cNvPr id="5" name="Rectangle 4"/>
          <p:cNvSpPr/>
          <p:nvPr/>
        </p:nvSpPr>
        <p:spPr>
          <a:xfrm>
            <a:off x="5524347" y="4114800"/>
            <a:ext cx="1143000" cy="9525"/>
          </a:xfrm>
          <a:prstGeom prst="rect">
            <a:avLst/>
          </a:prstGeom>
          <a:solidFill>
            <a:srgbClr val="DCC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352544"/>
            <a:ext cx="944849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100" spc="33">
                <a:solidFill>
                  <a:srgbClr val="7E5F3A"/>
                </a:solidFill>
                <a:latin typeface="Jost"/>
              </a:rPr>
              <a:t>Sunday, 20 September 2026 · 2 PM</a:t>
            </a:r>
          </a:p>
          <a:p>
            <a:pPr algn="ctr">
              <a:spcBef>
                <a:spcPts val="400"/>
              </a:spcBef>
            </a:pPr>
            <a:r>
              <a:rPr sz="1100" spc="33">
                <a:solidFill>
                  <a:srgbClr val="7E5F3A"/>
                </a:solidFill>
                <a:latin typeface="Jost"/>
              </a:rPr>
              <a:t>Spring Banquets, Vashi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 advClick="1">
        <p:fade/>
      </p:transition>
    </mc:Choice>
    <mc:Fallback>
      <p:transition spd="slow" advClick="1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0379" y="310896"/>
            <a:ext cx="630936" cy="597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983583" y="822960"/>
            <a:ext cx="4224528" cy="2622042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4200">
                <a:solidFill>
                  <a:srgbClr val="1E3324"/>
                </a:solidFill>
                <a:latin typeface="Cormorant Garamond"/>
              </a:rPr>
              <a:t>Meeting Call to Order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15787" y="3682746"/>
            <a:ext cx="960120" cy="9525"/>
          </a:xfrm>
          <a:prstGeom prst="rect">
            <a:avLst/>
          </a:prstGeom>
          <a:solidFill>
            <a:srgbClr val="DCC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09647" y="3920490"/>
            <a:ext cx="7772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450" spc="290">
                <a:solidFill>
                  <a:srgbClr val="7E5F3A"/>
                </a:solidFill>
                <a:latin typeface="Jost"/>
              </a:rPr>
              <a:t>LION </a:t>
            </a:r>
            <a:r>
              <a:rPr sz="1800" b="0" spc="81">
                <a:solidFill>
                  <a:srgbClr val="1E3324"/>
                </a:solidFill>
                <a:latin typeface="Jost"/>
              </a:rPr>
              <a:t>Ramchandra Patil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 advClick="1">
        <p:fade/>
      </p:transition>
    </mc:Choice>
    <mc:Fallback>
      <p:transition spd="slow" advClick="1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0379" y="310896"/>
            <a:ext cx="630936" cy="597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916527" y="822960"/>
            <a:ext cx="4358640" cy="2622042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5200">
                <a:solidFill>
                  <a:srgbClr val="1E3324"/>
                </a:solidFill>
                <a:latin typeface="Cormorant Garamond"/>
              </a:rPr>
              <a:t>Leo Pledge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15787" y="3682746"/>
            <a:ext cx="960120" cy="9525"/>
          </a:xfrm>
          <a:prstGeom prst="rect">
            <a:avLst/>
          </a:prstGeom>
          <a:solidFill>
            <a:srgbClr val="DCC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09647" y="3920490"/>
            <a:ext cx="7772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450" spc="290">
                <a:solidFill>
                  <a:srgbClr val="7E5F3A"/>
                </a:solidFill>
                <a:latin typeface="Jost"/>
              </a:rPr>
              <a:t>LEO </a:t>
            </a:r>
            <a:r>
              <a:rPr sz="1800" b="0" spc="81">
                <a:solidFill>
                  <a:srgbClr val="1E3324"/>
                </a:solidFill>
                <a:latin typeface="Jost"/>
              </a:rPr>
              <a:t>Darsh Sinha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 advClick="1">
        <p:fade/>
      </p:transition>
    </mc:Choice>
    <mc:Fallback>
      <p:transition spd="slow" advClick="1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0379" y="310896"/>
            <a:ext cx="630936" cy="597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916527" y="822960"/>
            <a:ext cx="4358640" cy="2622042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5200">
                <a:solidFill>
                  <a:srgbClr val="1E3324"/>
                </a:solidFill>
                <a:latin typeface="Cormorant Garamond"/>
              </a:rPr>
              <a:t>Flag Salutation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15787" y="3682746"/>
            <a:ext cx="960120" cy="9525"/>
          </a:xfrm>
          <a:prstGeom prst="rect">
            <a:avLst/>
          </a:prstGeom>
          <a:solidFill>
            <a:srgbClr val="DCC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09647" y="3920490"/>
            <a:ext cx="7772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450" spc="290">
                <a:solidFill>
                  <a:srgbClr val="7E5F3A"/>
                </a:solidFill>
                <a:latin typeface="Jost"/>
              </a:rPr>
              <a:t>LEO </a:t>
            </a:r>
            <a:r>
              <a:rPr sz="1800" b="0" spc="81">
                <a:solidFill>
                  <a:srgbClr val="1E3324"/>
                </a:solidFill>
                <a:latin typeface="Jost"/>
              </a:rPr>
              <a:t>Dhruv Chandra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 advClick="1">
        <p:fade/>
      </p:transition>
    </mc:Choice>
    <mc:Fallback>
      <p:transition spd="slow" advClick="1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0379" y="310896"/>
            <a:ext cx="630936" cy="597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983583" y="822960"/>
            <a:ext cx="4224528" cy="2622042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4200">
                <a:solidFill>
                  <a:srgbClr val="1E3324"/>
                </a:solidFill>
                <a:latin typeface="Cormorant Garamond"/>
              </a:rPr>
              <a:t>Roll Call by the Club Secretary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15787" y="3682746"/>
            <a:ext cx="960120" cy="9525"/>
          </a:xfrm>
          <a:prstGeom prst="rect">
            <a:avLst/>
          </a:prstGeom>
          <a:solidFill>
            <a:srgbClr val="DCC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09647" y="3920490"/>
            <a:ext cx="7772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450" spc="290">
                <a:solidFill>
                  <a:srgbClr val="7E5F3A"/>
                </a:solidFill>
                <a:latin typeface="Jost"/>
              </a:rPr>
              <a:t>LEO </a:t>
            </a:r>
            <a:r>
              <a:rPr sz="1800" b="0" spc="81">
                <a:solidFill>
                  <a:srgbClr val="1E3324"/>
                </a:solidFill>
                <a:latin typeface="Jost"/>
              </a:rPr>
              <a:t>Khushboo Patel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 advClick="1">
        <p:fade/>
      </p:transition>
    </mc:Choice>
    <mc:Fallback>
      <p:transition spd="slow" advClick="1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0379" y="310896"/>
            <a:ext cx="630936" cy="597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34459" y="822960"/>
            <a:ext cx="3922776" cy="2622042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2700">
                <a:solidFill>
                  <a:srgbClr val="1E3324"/>
                </a:solidFill>
                <a:latin typeface="Cormorant Garamond"/>
              </a:rPr>
              <a:t>Introduction of the Guest of Honor &amp; Induction Officer, Leo Lion Rakhshan Khan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15787" y="3682746"/>
            <a:ext cx="960120" cy="9525"/>
          </a:xfrm>
          <a:prstGeom prst="rect">
            <a:avLst/>
          </a:prstGeom>
          <a:solidFill>
            <a:srgbClr val="DCC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09647" y="3920490"/>
            <a:ext cx="7772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450" spc="290">
                <a:solidFill>
                  <a:srgbClr val="7E5F3A"/>
                </a:solidFill>
                <a:latin typeface="Jost"/>
              </a:rPr>
              <a:t>LEO </a:t>
            </a:r>
            <a:r>
              <a:rPr sz="1800" b="0" spc="81">
                <a:solidFill>
                  <a:srgbClr val="1E3324"/>
                </a:solidFill>
                <a:latin typeface="Jost"/>
              </a:rPr>
              <a:t>Khushboo Patel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 advClick="1">
        <p:fade/>
      </p:transition>
    </mc:Choice>
    <mc:Fallback>
      <p:transition spd="slow" advClick="1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0379" y="310896"/>
            <a:ext cx="630936" cy="597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916527" y="822960"/>
            <a:ext cx="4358640" cy="2622042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5200">
                <a:solidFill>
                  <a:srgbClr val="1E3324"/>
                </a:solidFill>
                <a:latin typeface="Cormorant Garamond"/>
              </a:rPr>
              <a:t>Induction Ceremony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15787" y="3682746"/>
            <a:ext cx="960120" cy="9525"/>
          </a:xfrm>
          <a:prstGeom prst="rect">
            <a:avLst/>
          </a:prstGeom>
          <a:solidFill>
            <a:srgbClr val="DCC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09647" y="3920490"/>
            <a:ext cx="7772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450" spc="290">
                <a:solidFill>
                  <a:srgbClr val="7E5F3A"/>
                </a:solidFill>
                <a:latin typeface="Jost"/>
              </a:rPr>
              <a:t>LEO LION </a:t>
            </a:r>
            <a:r>
              <a:rPr sz="1800" b="0" spc="81">
                <a:solidFill>
                  <a:srgbClr val="1E3324"/>
                </a:solidFill>
                <a:latin typeface="Jost"/>
              </a:rPr>
              <a:t>Rakhshan Khan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 advClick="1">
        <p:fade/>
      </p:transition>
    </mc:Choice>
    <mc:Fallback>
      <p:transition spd="slow" advClick="1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0379" y="310896"/>
            <a:ext cx="630936" cy="597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34459" y="822960"/>
            <a:ext cx="3922776" cy="2622042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2700">
                <a:solidFill>
                  <a:srgbClr val="1E3324"/>
                </a:solidFill>
                <a:latin typeface="Cormorant Garamond"/>
              </a:rPr>
              <a:t>Introduction of the Chief Guest &amp; Installation Officer, Leo Lion Mukund Khaw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15787" y="3682746"/>
            <a:ext cx="960120" cy="9525"/>
          </a:xfrm>
          <a:prstGeom prst="rect">
            <a:avLst/>
          </a:prstGeom>
          <a:solidFill>
            <a:srgbClr val="DCC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09647" y="3920490"/>
            <a:ext cx="7772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450" spc="290">
                <a:solidFill>
                  <a:srgbClr val="7E5F3A"/>
                </a:solidFill>
                <a:latin typeface="Jost"/>
              </a:rPr>
              <a:t>LEO </a:t>
            </a:r>
            <a:r>
              <a:rPr sz="1800" b="0" spc="81">
                <a:solidFill>
                  <a:srgbClr val="1E3324"/>
                </a:solidFill>
                <a:latin typeface="Jost"/>
              </a:rPr>
              <a:t>Drishti Sinha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 advClick="1">
        <p:fade/>
      </p:transition>
    </mc:Choice>
    <mc:Fallback>
      <p:transition spd="slow" advClick="1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0379" y="310896"/>
            <a:ext cx="630936" cy="597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05935" y="822960"/>
            <a:ext cx="4179824" cy="2622042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3400">
                <a:solidFill>
                  <a:srgbClr val="1E3324"/>
                </a:solidFill>
                <a:latin typeface="Cormorant Garamond"/>
              </a:rPr>
              <a:t>Installation of the Board of Directors for 2026–27</a:t>
            </a:r>
          </a:p>
        </p:txBody>
      </p:sp>
      <p:sp>
        <p:nvSpPr>
          <p:cNvPr id="5" name="Rectangle 4"/>
          <p:cNvSpPr/>
          <p:nvPr/>
        </p:nvSpPr>
        <p:spPr>
          <a:xfrm>
            <a:off x="5615787" y="3682746"/>
            <a:ext cx="960120" cy="9525"/>
          </a:xfrm>
          <a:prstGeom prst="rect">
            <a:avLst/>
          </a:prstGeom>
          <a:solidFill>
            <a:srgbClr val="DCC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09647" y="3920490"/>
            <a:ext cx="7772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450" spc="290">
                <a:solidFill>
                  <a:srgbClr val="7E5F3A"/>
                </a:solidFill>
                <a:latin typeface="Jost"/>
              </a:rPr>
              <a:t>LEO LION </a:t>
            </a:r>
            <a:r>
              <a:rPr sz="1800" b="0" spc="81">
                <a:solidFill>
                  <a:srgbClr val="1E3324"/>
                </a:solidFill>
                <a:latin typeface="Jost"/>
              </a:rPr>
              <a:t>Mukund Khaw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 advClick="1">
        <p:fade/>
      </p:transition>
    </mc:Choice>
    <mc:Fallback>
      <p:transition spd="slow" advClick="1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0379" y="310896"/>
            <a:ext cx="630936" cy="597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983583" y="822960"/>
            <a:ext cx="4224528" cy="2622042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4200">
                <a:solidFill>
                  <a:srgbClr val="1E3324"/>
                </a:solidFill>
                <a:latin typeface="Cormorant Garamond"/>
              </a:rPr>
              <a:t>Thanking Speech by the Vice President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15787" y="3682746"/>
            <a:ext cx="960120" cy="9525"/>
          </a:xfrm>
          <a:prstGeom prst="rect">
            <a:avLst/>
          </a:prstGeom>
          <a:solidFill>
            <a:srgbClr val="DCC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09647" y="3920490"/>
            <a:ext cx="7772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450" spc="290">
                <a:solidFill>
                  <a:srgbClr val="7E5F3A"/>
                </a:solidFill>
                <a:latin typeface="Jost"/>
              </a:rPr>
              <a:t>LEO </a:t>
            </a:r>
            <a:r>
              <a:rPr sz="1800" b="0" spc="81">
                <a:solidFill>
                  <a:srgbClr val="1E3324"/>
                </a:solidFill>
                <a:latin typeface="Jost"/>
              </a:rPr>
              <a:t>Abhishek Ajit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 advClick="1">
        <p:fade/>
      </p:transition>
    </mc:Choice>
    <mc:Fallback>
      <p:transition spd="slow" advClick="1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0379" y="310896"/>
            <a:ext cx="630936" cy="597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983583" y="822960"/>
            <a:ext cx="4224528" cy="2622042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4200">
                <a:solidFill>
                  <a:srgbClr val="1E3324"/>
                </a:solidFill>
                <a:latin typeface="Cormorant Garamond"/>
              </a:rPr>
              <a:t>Acceptance Speech by the Club President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15787" y="3682746"/>
            <a:ext cx="960120" cy="9525"/>
          </a:xfrm>
          <a:prstGeom prst="rect">
            <a:avLst/>
          </a:prstGeom>
          <a:solidFill>
            <a:srgbClr val="DCC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09647" y="3920490"/>
            <a:ext cx="7772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450" spc="290">
                <a:solidFill>
                  <a:srgbClr val="7E5F3A"/>
                </a:solidFill>
                <a:latin typeface="Jost"/>
              </a:rPr>
              <a:t>LEO </a:t>
            </a:r>
            <a:r>
              <a:rPr sz="1800" b="0" spc="81">
                <a:solidFill>
                  <a:srgbClr val="1E3324"/>
                </a:solidFill>
                <a:latin typeface="Jost"/>
              </a:rPr>
              <a:t>Drishti Sinha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 advClick="1">
        <p:fade/>
      </p:transition>
    </mc:Choice>
    <mc:Fallback>
      <p:transition spd="slow" advClick="1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0379" y="310896"/>
            <a:ext cx="630936" cy="597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983583" y="822960"/>
            <a:ext cx="4224528" cy="2622042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4200">
                <a:solidFill>
                  <a:srgbClr val="1E3324"/>
                </a:solidFill>
                <a:latin typeface="Cormorant Garamond"/>
              </a:rPr>
              <a:t>Observation by the Lions Club President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15787" y="3682746"/>
            <a:ext cx="960120" cy="9525"/>
          </a:xfrm>
          <a:prstGeom prst="rect">
            <a:avLst/>
          </a:prstGeom>
          <a:solidFill>
            <a:srgbClr val="DCC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09647" y="3920490"/>
            <a:ext cx="7772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450" spc="290">
                <a:solidFill>
                  <a:srgbClr val="7E5F3A"/>
                </a:solidFill>
                <a:latin typeface="Jost"/>
              </a:rPr>
              <a:t>LION </a:t>
            </a:r>
            <a:r>
              <a:rPr sz="1800" b="0" spc="81">
                <a:solidFill>
                  <a:srgbClr val="1E3324"/>
                </a:solidFill>
                <a:latin typeface="Jost"/>
              </a:rPr>
              <a:t>Ramchandra Patil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 advClick="1">
        <p:fade/>
      </p:transition>
    </mc:Choice>
    <mc:Fallback>
      <p:transition spd="slow" advClick="1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0379" y="310896"/>
            <a:ext cx="630936" cy="597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983583" y="822960"/>
            <a:ext cx="4224528" cy="2622042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4200">
                <a:solidFill>
                  <a:srgbClr val="1E3324"/>
                </a:solidFill>
                <a:latin typeface="Cormorant Garamond"/>
              </a:rPr>
              <a:t>Observation by the Leo Club Advisor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15787" y="3682746"/>
            <a:ext cx="960120" cy="9525"/>
          </a:xfrm>
          <a:prstGeom prst="rect">
            <a:avLst/>
          </a:prstGeom>
          <a:solidFill>
            <a:srgbClr val="DCC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09647" y="3920490"/>
            <a:ext cx="7772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450" spc="290">
                <a:solidFill>
                  <a:srgbClr val="7E5F3A"/>
                </a:solidFill>
                <a:latin typeface="Jost"/>
              </a:rPr>
              <a:t>LION </a:t>
            </a:r>
            <a:r>
              <a:rPr sz="1800" b="0" spc="81">
                <a:solidFill>
                  <a:srgbClr val="1E3324"/>
                </a:solidFill>
                <a:latin typeface="Jost"/>
              </a:rPr>
              <a:t>Sabitri Nag</a:t>
            </a:r>
            <a:r>
              <a:rPr sz="1800">
                <a:solidFill>
                  <a:srgbClr val="DCC3A3"/>
                </a:solidFill>
                <a:latin typeface="Jost"/>
              </a:rPr>
              <a:t>   /   </a:t>
            </a:r>
            <a:r>
              <a:rPr sz="1450" spc="290">
                <a:solidFill>
                  <a:srgbClr val="7E5F3A"/>
                </a:solidFill>
                <a:latin typeface="Jost"/>
              </a:rPr>
              <a:t>LION </a:t>
            </a:r>
            <a:r>
              <a:rPr sz="1800" b="0" spc="81">
                <a:solidFill>
                  <a:srgbClr val="1E3324"/>
                </a:solidFill>
                <a:latin typeface="Jost"/>
              </a:rPr>
              <a:t>Dhirendra Sinha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 advClick="1">
        <p:fade/>
      </p:transition>
    </mc:Choice>
    <mc:Fallback>
      <p:transition spd="slow" advClick="1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0379" y="310896"/>
            <a:ext cx="630936" cy="597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05935" y="822960"/>
            <a:ext cx="4179824" cy="2622042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3400">
                <a:solidFill>
                  <a:srgbClr val="1E3324"/>
                </a:solidFill>
                <a:latin typeface="Cormorant Garamond"/>
              </a:rPr>
              <a:t>Observation by the Guest of Honor, Induction Officer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15787" y="3682746"/>
            <a:ext cx="960120" cy="9525"/>
          </a:xfrm>
          <a:prstGeom prst="rect">
            <a:avLst/>
          </a:prstGeom>
          <a:solidFill>
            <a:srgbClr val="DCC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09647" y="3920490"/>
            <a:ext cx="7772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450" spc="290">
                <a:solidFill>
                  <a:srgbClr val="7E5F3A"/>
                </a:solidFill>
                <a:latin typeface="Jost"/>
              </a:rPr>
              <a:t>LEO LION </a:t>
            </a:r>
            <a:r>
              <a:rPr sz="1800" b="0" spc="81">
                <a:solidFill>
                  <a:srgbClr val="1E3324"/>
                </a:solidFill>
                <a:latin typeface="Jost"/>
              </a:rPr>
              <a:t>Rakhshan Khan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 advClick="1">
        <p:fade/>
      </p:transition>
    </mc:Choice>
    <mc:Fallback>
      <p:transition spd="slow" advClick="1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0379" y="310896"/>
            <a:ext cx="630936" cy="597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05935" y="822960"/>
            <a:ext cx="4179824" cy="2622042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3400">
                <a:solidFill>
                  <a:srgbClr val="1E3324"/>
                </a:solidFill>
                <a:latin typeface="Cormorant Garamond"/>
              </a:rPr>
              <a:t>Observation by the Guest of Honor, Multiple District President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15787" y="3682746"/>
            <a:ext cx="960120" cy="9525"/>
          </a:xfrm>
          <a:prstGeom prst="rect">
            <a:avLst/>
          </a:prstGeom>
          <a:solidFill>
            <a:srgbClr val="DCC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09647" y="3920490"/>
            <a:ext cx="7772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450" spc="290">
                <a:solidFill>
                  <a:srgbClr val="7E5F3A"/>
                </a:solidFill>
                <a:latin typeface="Jost"/>
              </a:rPr>
              <a:t>LEO LION </a:t>
            </a:r>
            <a:r>
              <a:rPr sz="1800" b="0" spc="81">
                <a:solidFill>
                  <a:srgbClr val="1E3324"/>
                </a:solidFill>
                <a:latin typeface="Jost"/>
              </a:rPr>
              <a:t>Sudhanshu Maheshwari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 advClick="1">
        <p:fade/>
      </p:transition>
    </mc:Choice>
    <mc:Fallback>
      <p:transition spd="slow" advClick="1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0379" y="310896"/>
            <a:ext cx="630936" cy="597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34459" y="822960"/>
            <a:ext cx="3922776" cy="2622042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2700">
                <a:solidFill>
                  <a:srgbClr val="1E3324"/>
                </a:solidFill>
                <a:latin typeface="Cormorant Garamond"/>
              </a:rPr>
              <a:t>Observation by the Lions Guest of Honor, 1st Vice District Governor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15787" y="3682746"/>
            <a:ext cx="960120" cy="9525"/>
          </a:xfrm>
          <a:prstGeom prst="rect">
            <a:avLst/>
          </a:prstGeom>
          <a:solidFill>
            <a:srgbClr val="DCC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09647" y="3920490"/>
            <a:ext cx="7772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450" spc="290">
                <a:solidFill>
                  <a:srgbClr val="7E5F3A"/>
                </a:solidFill>
                <a:latin typeface="Jost"/>
              </a:rPr>
              <a:t>MJF LION </a:t>
            </a:r>
            <a:r>
              <a:rPr sz="1800" b="0" spc="81">
                <a:solidFill>
                  <a:srgbClr val="1E3324"/>
                </a:solidFill>
                <a:latin typeface="Jost"/>
              </a:rPr>
              <a:t>Vijay Ganatra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 advClick="1">
        <p:fade/>
      </p:transition>
    </mc:Choice>
    <mc:Fallback>
      <p:transition spd="slow" advClick="1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0379" y="310896"/>
            <a:ext cx="630936" cy="597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34459" y="822960"/>
            <a:ext cx="3922776" cy="2622042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2700">
                <a:solidFill>
                  <a:srgbClr val="1E3324"/>
                </a:solidFill>
                <a:latin typeface="Cormorant Garamond"/>
              </a:rPr>
              <a:t>Observation by the Lions Guest of Honor, 2nd Vice District Governor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15787" y="3682746"/>
            <a:ext cx="960120" cy="9525"/>
          </a:xfrm>
          <a:prstGeom prst="rect">
            <a:avLst/>
          </a:prstGeom>
          <a:solidFill>
            <a:srgbClr val="DCC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09647" y="3920490"/>
            <a:ext cx="7772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450" spc="290">
                <a:solidFill>
                  <a:srgbClr val="7E5F3A"/>
                </a:solidFill>
                <a:latin typeface="Jost"/>
              </a:rPr>
              <a:t>MJF LION </a:t>
            </a:r>
            <a:r>
              <a:rPr sz="1800" b="0" spc="81">
                <a:solidFill>
                  <a:srgbClr val="1E3324"/>
                </a:solidFill>
                <a:latin typeface="Jost"/>
              </a:rPr>
              <a:t>Namita Mishra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 advClick="1">
        <p:fade/>
      </p:transition>
    </mc:Choice>
    <mc:Fallback>
      <p:transition spd="slow" advClick="1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0379" y="310896"/>
            <a:ext cx="630936" cy="597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05935" y="822960"/>
            <a:ext cx="4179824" cy="2622042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3400">
                <a:solidFill>
                  <a:srgbClr val="1E3324"/>
                </a:solidFill>
                <a:latin typeface="Cormorant Garamond"/>
              </a:rPr>
              <a:t>Observation by the Chief Guest, District President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15787" y="3682746"/>
            <a:ext cx="960120" cy="9525"/>
          </a:xfrm>
          <a:prstGeom prst="rect">
            <a:avLst/>
          </a:prstGeom>
          <a:solidFill>
            <a:srgbClr val="DCC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09647" y="3920490"/>
            <a:ext cx="7772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450" spc="290">
                <a:solidFill>
                  <a:srgbClr val="7E5F3A"/>
                </a:solidFill>
                <a:latin typeface="Jost"/>
              </a:rPr>
              <a:t>LEO LION </a:t>
            </a:r>
            <a:r>
              <a:rPr sz="1800" b="0" spc="81">
                <a:solidFill>
                  <a:srgbClr val="1E3324"/>
                </a:solidFill>
                <a:latin typeface="Jost"/>
              </a:rPr>
              <a:t>Mukund Khaw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 advClick="1">
        <p:fade/>
      </p:transition>
    </mc:Choice>
    <mc:Fallback>
      <p:transition spd="slow" advClick="1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0379" y="310896"/>
            <a:ext cx="630936" cy="597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983583" y="822960"/>
            <a:ext cx="4224528" cy="2622042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4200">
                <a:solidFill>
                  <a:srgbClr val="1E3324"/>
                </a:solidFill>
                <a:latin typeface="Cormorant Garamond"/>
              </a:rPr>
              <a:t>Concluding Remarks by the Club President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15787" y="3682746"/>
            <a:ext cx="960120" cy="9525"/>
          </a:xfrm>
          <a:prstGeom prst="rect">
            <a:avLst/>
          </a:prstGeom>
          <a:solidFill>
            <a:srgbClr val="DCC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09647" y="3920490"/>
            <a:ext cx="7772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450" spc="290">
                <a:solidFill>
                  <a:srgbClr val="7E5F3A"/>
                </a:solidFill>
                <a:latin typeface="Jost"/>
              </a:rPr>
              <a:t>LEO </a:t>
            </a:r>
            <a:r>
              <a:rPr sz="1800" b="0" spc="81">
                <a:solidFill>
                  <a:srgbClr val="1E3324"/>
                </a:solidFill>
                <a:latin typeface="Jost"/>
              </a:rPr>
              <a:t>Drishti Sinha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 advClick="1">
        <p:fade/>
      </p:transition>
    </mc:Choice>
    <mc:Fallback>
      <p:transition spd="slow" advClick="1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0379" y="310896"/>
            <a:ext cx="630936" cy="597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05935" y="822960"/>
            <a:ext cx="4179824" cy="2622042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3400">
                <a:solidFill>
                  <a:srgbClr val="1E3324"/>
                </a:solidFill>
                <a:latin typeface="Cormorant Garamond"/>
              </a:rPr>
              <a:t>Vote of Thanks &amp; Announcements by the Club Secretary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15787" y="3682746"/>
            <a:ext cx="960120" cy="9525"/>
          </a:xfrm>
          <a:prstGeom prst="rect">
            <a:avLst/>
          </a:prstGeom>
          <a:solidFill>
            <a:srgbClr val="DCC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09647" y="3920490"/>
            <a:ext cx="7772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450" spc="290">
                <a:solidFill>
                  <a:srgbClr val="7E5F3A"/>
                </a:solidFill>
                <a:latin typeface="Jost"/>
              </a:rPr>
              <a:t>LEO </a:t>
            </a:r>
            <a:r>
              <a:rPr sz="1800" b="0" spc="81">
                <a:solidFill>
                  <a:srgbClr val="1E3324"/>
                </a:solidFill>
                <a:latin typeface="Jost"/>
              </a:rPr>
              <a:t>Khushboo Patel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 advClick="1">
        <p:fade/>
      </p:transition>
    </mc:Choice>
    <mc:Fallback>
      <p:transition spd="slow" advClick="1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0379" y="310896"/>
            <a:ext cx="630936" cy="597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983583" y="822960"/>
            <a:ext cx="4224528" cy="2622042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4200">
                <a:solidFill>
                  <a:srgbClr val="1E3324"/>
                </a:solidFill>
                <a:latin typeface="Cormorant Garamond"/>
              </a:rPr>
              <a:t>Meeting Adjourned by the Club President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15787" y="3682746"/>
            <a:ext cx="960120" cy="9525"/>
          </a:xfrm>
          <a:prstGeom prst="rect">
            <a:avLst/>
          </a:prstGeom>
          <a:solidFill>
            <a:srgbClr val="DCC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09647" y="3920490"/>
            <a:ext cx="7772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450" spc="290">
                <a:solidFill>
                  <a:srgbClr val="7E5F3A"/>
                </a:solidFill>
                <a:latin typeface="Jost"/>
              </a:rPr>
              <a:t>LEO </a:t>
            </a:r>
            <a:r>
              <a:rPr sz="1800" b="0" spc="81">
                <a:solidFill>
                  <a:srgbClr val="1E3324"/>
                </a:solidFill>
                <a:latin typeface="Jost"/>
              </a:rPr>
              <a:t>Drishti Sinha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 advClick="1">
        <p:fade/>
      </p:transition>
    </mc:Choice>
    <mc:Fallback>
      <p:transition spd="slow" advClick="1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c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7207" y="1417320"/>
            <a:ext cx="1097280" cy="10391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2514600"/>
            <a:ext cx="94484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000">
                <a:solidFill>
                  <a:srgbClr val="1E3324"/>
                </a:solidFill>
                <a:latin typeface="Cormorant Garamond"/>
              </a:rPr>
              <a:t>Thank you</a:t>
            </a:r>
          </a:p>
          <a:p>
            <a:pPr algn="ctr">
              <a:spcBef>
                <a:spcPts val="600"/>
              </a:spcBef>
            </a:pPr>
            <a:r>
              <a:rPr sz="2000" i="1">
                <a:solidFill>
                  <a:srgbClr val="7F9673"/>
                </a:solidFill>
                <a:latin typeface="Cormorant Garamond"/>
              </a:rPr>
              <a:t>Built on bonds.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524347" y="4114800"/>
            <a:ext cx="1143000" cy="9525"/>
          </a:xfrm>
          <a:prstGeom prst="rect">
            <a:avLst/>
          </a:prstGeom>
          <a:solidFill>
            <a:srgbClr val="DCC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352544"/>
            <a:ext cx="944849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100" spc="33">
                <a:solidFill>
                  <a:srgbClr val="7E5F3A"/>
                </a:solidFill>
                <a:latin typeface="Jost"/>
              </a:rPr>
              <a:t>Leo Club of Aurelian · District 3231 A4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 advClick="1">
        <p:fade/>
      </p:transition>
    </mc:Choice>
    <mc:Fallback>
      <p:transition spd="slow" advClick="1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